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707" r:id="rId4"/>
  </p:sldMasterIdLst>
  <p:notesMasterIdLst>
    <p:notesMasterId r:id="rId18"/>
  </p:notesMasterIdLst>
  <p:handoutMasterIdLst>
    <p:handoutMasterId r:id="rId19"/>
  </p:handoutMasterIdLst>
  <p:sldIdLst>
    <p:sldId id="391" r:id="rId5"/>
    <p:sldId id="385" r:id="rId6"/>
    <p:sldId id="387" r:id="rId7"/>
    <p:sldId id="389" r:id="rId8"/>
    <p:sldId id="372" r:id="rId9"/>
    <p:sldId id="388" r:id="rId10"/>
    <p:sldId id="381" r:id="rId11"/>
    <p:sldId id="390" r:id="rId12"/>
    <p:sldId id="395" r:id="rId13"/>
    <p:sldId id="396" r:id="rId14"/>
    <p:sldId id="394" r:id="rId15"/>
    <p:sldId id="392" r:id="rId16"/>
    <p:sldId id="374" r:id="rId17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port" id="{28C69E62-B5B4-46A3-A1AB-2A44E9DADCF8}">
          <p14:sldIdLst>
            <p14:sldId id="391"/>
            <p14:sldId id="385"/>
            <p14:sldId id="387"/>
            <p14:sldId id="389"/>
            <p14:sldId id="372"/>
            <p14:sldId id="388"/>
            <p14:sldId id="381"/>
            <p14:sldId id="390"/>
            <p14:sldId id="395"/>
            <p14:sldId id="396"/>
            <p14:sldId id="394"/>
            <p14:sldId id="392"/>
            <p14:sldId id="3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enn Lim" initials="GL" lastIdx="1" clrIdx="0">
    <p:extLst>
      <p:ext uri="{19B8F6BF-5375-455C-9EA6-DF929625EA0E}">
        <p15:presenceInfo xmlns:p15="http://schemas.microsoft.com/office/powerpoint/2012/main" userId="S::glenn@graphenesvc.com::c84bccc5-c6d4-4a32-8d4c-384be2b027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D9D9"/>
    <a:srgbClr val="BFE4FF"/>
    <a:srgbClr val="CCFFCC"/>
    <a:srgbClr val="D5EAFF"/>
    <a:srgbClr val="CCFFFF"/>
    <a:srgbClr val="F2F2F2"/>
    <a:srgbClr val="D0CECE"/>
    <a:srgbClr val="0070C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2B099-406D-4B46-909A-36CA57BDBB7C}" v="210" dt="2023-06-27T10:39:41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73" autoAdjust="0"/>
  </p:normalViewPr>
  <p:slideViewPr>
    <p:cSldViewPr snapToGrid="0">
      <p:cViewPr varScale="1">
        <p:scale>
          <a:sx n="52" d="100"/>
          <a:sy n="52" d="100"/>
        </p:scale>
        <p:origin x="62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113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SG"/>
              <a:t>Emerging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Period1</c:v>
                </c:pt>
                <c:pt idx="1">
                  <c:v>Period2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F-42AC-8392-08073A4F58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Period1</c:v>
                </c:pt>
                <c:pt idx="1">
                  <c:v>Period2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</c:v>
                </c:pt>
                <c:pt idx="1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BF-42AC-8392-08073A4F58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Trend3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Period1</c:v>
                </c:pt>
                <c:pt idx="1">
                  <c:v>Period2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0.45</c:v>
                </c:pt>
                <c:pt idx="1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BF-42AC-8392-08073A4F58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04711119"/>
        <c:axId val="1367991711"/>
      </c:lineChart>
      <c:catAx>
        <c:axId val="2104711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7991711"/>
        <c:crosses val="autoZero"/>
        <c:auto val="1"/>
        <c:lblAlgn val="ctr"/>
        <c:lblOffset val="100"/>
        <c:noMultiLvlLbl val="0"/>
      </c:catAx>
      <c:valAx>
        <c:axId val="136799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4711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758B19-2B85-4525-A6DE-020D607CE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1D2B6-88E5-4B37-AA8E-948CFAF6F4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36FA-3D70-4B1B-AA34-A0F3FEEF4CAF}" type="datetimeFigureOut">
              <a:rPr lang="en-SG" smtClean="0"/>
              <a:t>29/8/2023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C7537-8260-4C13-ADD4-C2E908DE62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097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EF44F-22DF-4F67-8CA6-6E7B7D1C43B4}" type="datetimeFigureOut">
              <a:rPr lang="en-SG" smtClean="0"/>
              <a:t>29/8/2023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8058C-1146-4E2A-BC10-7A58E9EB2A5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41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85" y="-798432"/>
            <a:ext cx="4988667" cy="6700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400" b="1">
                <a:solidFill>
                  <a:srgbClr val="C00000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E35281-A67A-885B-8CAE-CB57CEB77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184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2336331-BE96-32E9-E66A-5E5BA8CBB77D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6355346" y="688332"/>
            <a:chExt cx="5480998" cy="549553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F2530D9-38E0-F368-CE5D-66D9EDC8A1F7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6F14C5-AEE6-7CF2-0D7F-8EBA6CFC5968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84BDFBE-5A16-B05F-AC2B-C61E86B69BA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F93908F-27E4-FFFC-C64A-E450D0EEB7F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2362AD-7332-5BC6-3C8F-CFE9D69532B3}"/>
                </a:ext>
              </a:extLst>
            </p:cNvPr>
            <p:cNvSpPr txBox="1"/>
            <p:nvPr userDrawn="1"/>
          </p:nvSpPr>
          <p:spPr>
            <a:xfrm>
              <a:off x="6420110" y="831907"/>
              <a:ext cx="52132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decisions will this inspire?</a:t>
              </a:r>
            </a:p>
          </p:txBody>
        </p:sp>
      </p:grpSp>
      <p:pic>
        <p:nvPicPr>
          <p:cNvPr id="10" name="Graphic 9" descr="Target with solid fill">
            <a:extLst>
              <a:ext uri="{FF2B5EF4-FFF2-40B4-BE49-F238E27FC236}">
                <a16:creationId xmlns:a16="http://schemas.microsoft.com/office/drawing/2014/main" id="{0B8A78CC-E180-F5F7-61E6-967AA3881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6236" y="4697506"/>
            <a:ext cx="1206352" cy="1206352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05133-91C7-FFAD-8AF0-C52A9DB434CB}"/>
              </a:ext>
            </a:extLst>
          </p:cNvPr>
          <p:cNvSpPr txBox="1"/>
          <p:nvPr userDrawn="1"/>
        </p:nvSpPr>
        <p:spPr>
          <a:xfrm>
            <a:off x="493854" y="826520"/>
            <a:ext cx="4852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project objective?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10940C00-43F2-3CFD-C88F-994D97FEBCE7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9A3491D0-A4E0-042E-77C1-960ABD04D5AF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64645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 dirty="0">
                <a:solidFill>
                  <a:schemeClr val="bg1"/>
                </a:solidFill>
              </a:rPr>
              <a:t>Actions to be taken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" name="Graphic 11" descr="Folder Search with solid fill">
            <a:extLst>
              <a:ext uri="{FF2B5EF4-FFF2-40B4-BE49-F238E27FC236}">
                <a16:creationId xmlns:a16="http://schemas.microsoft.com/office/drawing/2014/main" id="{F2BD4813-C8A8-84C3-CE60-F100141A02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0008" y="4544398"/>
            <a:ext cx="1495791" cy="14957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995B35-BAF2-D5F6-B243-3E33DC7C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441" y="-508000"/>
            <a:ext cx="4991023" cy="495280"/>
          </a:xfrm>
        </p:spPr>
        <p:txBody>
          <a:bodyPr>
            <a:noAutofit/>
          </a:bodyPr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992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13F93C-71E3-20B4-9B80-2AE167F9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99" y="-696534"/>
            <a:ext cx="5304427" cy="668659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07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E182051B-D202-09DD-EA39-F7E8BB9229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287" y="5262874"/>
            <a:ext cx="769950" cy="769950"/>
          </a:xfrm>
          <a:prstGeom prst="rect">
            <a:avLst/>
          </a:prstGeom>
        </p:spPr>
      </p:pic>
      <p:pic>
        <p:nvPicPr>
          <p:cNvPr id="14" name="Graphic 13" descr="Research with solid fill">
            <a:extLst>
              <a:ext uri="{FF2B5EF4-FFF2-40B4-BE49-F238E27FC236}">
                <a16:creationId xmlns:a16="http://schemas.microsoft.com/office/drawing/2014/main" id="{19348562-0582-4887-6083-E6F2B63495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6359" y="5262874"/>
            <a:ext cx="769950" cy="769950"/>
          </a:xfrm>
          <a:prstGeom prst="rect">
            <a:avLst/>
          </a:prstGeom>
        </p:spPr>
      </p:pic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1EBE85D-036C-55E4-52F3-DBC782495D16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Data asks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100DDF-AA22-838D-5B42-AB1BE720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99" y="-658591"/>
            <a:ext cx="4976859" cy="62736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431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fa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485" y="-733116"/>
            <a:ext cx="4142504" cy="73014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400" b="1">
                <a:solidFill>
                  <a:srgbClr val="C00000"/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6DC3FCD-AD6E-4613-3DD0-2747722B6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723" y="977880"/>
            <a:ext cx="4995101" cy="3505013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4572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9ACA9-7D5A-4498-4CAD-052A048ED24C}"/>
              </a:ext>
            </a:extLst>
          </p:cNvPr>
          <p:cNvSpPr/>
          <p:nvPr userDrawn="1"/>
        </p:nvSpPr>
        <p:spPr>
          <a:xfrm>
            <a:off x="0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2D7515-9606-850E-3D3C-98D0C78C8335}"/>
              </a:ext>
            </a:extLst>
          </p:cNvPr>
          <p:cNvSpPr/>
          <p:nvPr userDrawn="1"/>
        </p:nvSpPr>
        <p:spPr>
          <a:xfrm>
            <a:off x="564797" y="4332322"/>
            <a:ext cx="5061048" cy="305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1">
                <a:solidFill>
                  <a:schemeClr val="bg1"/>
                </a:solidFill>
              </a:rPr>
              <a:t>They should also mention these brands.</a:t>
            </a:r>
          </a:p>
        </p:txBody>
      </p:sp>
      <p:sp>
        <p:nvSpPr>
          <p:cNvPr id="52" name="Table Placeholder 5">
            <a:extLst>
              <a:ext uri="{FF2B5EF4-FFF2-40B4-BE49-F238E27FC236}">
                <a16:creationId xmlns:a16="http://schemas.microsoft.com/office/drawing/2014/main" id="{7297A784-F70D-12D4-BF6A-2826442AC5C4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561607" y="4725934"/>
            <a:ext cx="5061048" cy="1209489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2600647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9A5D7B7-367F-5278-51DF-F373F7C7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98" y="-692310"/>
            <a:ext cx="5482656" cy="692310"/>
          </a:xfrm>
        </p:spPr>
        <p:txBody>
          <a:bodyPr>
            <a:noAutofit/>
          </a:bodyPr>
          <a:lstStyle>
            <a:lvl1pPr algn="l">
              <a:defRPr sz="2400">
                <a:solidFill>
                  <a:srgbClr val="C00000"/>
                </a:solidFill>
              </a:defRPr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872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5E25832-A472-4E3A-AB0E-F9544D6A0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001" y="468235"/>
            <a:ext cx="2577807" cy="182884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DB7EFF-789F-40B1-809B-94177026AB22}"/>
              </a:ext>
            </a:extLst>
          </p:cNvPr>
          <p:cNvCxnSpPr>
            <a:cxnSpLocks/>
          </p:cNvCxnSpPr>
          <p:nvPr userDrawn="1"/>
        </p:nvCxnSpPr>
        <p:spPr>
          <a:xfrm>
            <a:off x="354001" y="2408529"/>
            <a:ext cx="241685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2514577"/>
            <a:ext cx="2416855" cy="3851941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77321-529B-DE6C-F754-D6F1B725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808" y="365125"/>
            <a:ext cx="7701992" cy="1325563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BD7D60C-C9F8-6E69-1DDD-B1D3D2187FAD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3651250" y="2297113"/>
            <a:ext cx="7702550" cy="3651250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092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F967B4-AA36-401C-5F9C-F57F2B33B666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C395BC-4304-6FF4-3598-7E6576C50407}"/>
              </a:ext>
            </a:extLst>
          </p:cNvPr>
          <p:cNvCxnSpPr>
            <a:cxnSpLocks/>
          </p:cNvCxnSpPr>
          <p:nvPr userDrawn="1"/>
        </p:nvCxnSpPr>
        <p:spPr>
          <a:xfrm>
            <a:off x="329082" y="1296182"/>
            <a:ext cx="115338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C7382-FF2D-DD17-EE70-A055F10846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1AC0D95-0C1D-3F0F-44B1-AE260A3882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D5FC15A-13BE-C58E-5529-ED8E86A80E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000" y="344135"/>
            <a:ext cx="11472001" cy="932085"/>
          </a:xfrm>
        </p:spPr>
        <p:txBody>
          <a:bodyPr anchor="ctr"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</a:t>
            </a:r>
            <a:endParaRPr lang="en-SG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18991D0-39F2-ABEF-D610-0FADE54125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4001" y="1296182"/>
            <a:ext cx="11472000" cy="603534"/>
          </a:xfrm>
        </p:spPr>
        <p:txBody>
          <a:bodyPr anchor="ctr">
            <a:norm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Click to edit Master</a:t>
            </a:r>
            <a:endParaRPr lang="en-SG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702B276-1C8C-E643-61B7-0FC447FD9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12EE340-A049-BBB2-A775-6F94ADB57A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29642-8BBD-B241-930C-2457E95C6EB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A4103AED-C2E0-712D-DDE8-70BCCFD62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6EDDC42-03CF-8EC3-A9BE-BEE4D1F86B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EB112A7-9A30-0FEC-381F-713CF5B5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82" y="-586149"/>
            <a:ext cx="4777756" cy="556030"/>
          </a:xfrm>
        </p:spPr>
        <p:txBody>
          <a:bodyPr>
            <a:noAutofit/>
          </a:bodyPr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865CAF-1669-5F3D-4652-8D414FF20F5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316162" y="2379600"/>
            <a:ext cx="7559676" cy="4049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131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49" y="-556722"/>
            <a:ext cx="4984923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F744CD-BB4E-D567-8C3E-B97E6561B2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9288" y="120650"/>
            <a:ext cx="11466000" cy="5064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SG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28949" y="2550761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317293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68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956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3239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332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52000" y="937028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768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956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13239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332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152000" y="3738533"/>
            <a:ext cx="1440000" cy="14400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898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7482AF-6975-936F-B9B0-C1CD7FFB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99" y="-848906"/>
            <a:ext cx="3866071" cy="859826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0875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1370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15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3" r:id="rId2"/>
    <p:sldLayoutId id="2147483827" r:id="rId3"/>
    <p:sldLayoutId id="2147483825" r:id="rId4"/>
    <p:sldLayoutId id="2147483815" r:id="rId5"/>
    <p:sldLayoutId id="2147483822" r:id="rId6"/>
    <p:sldLayoutId id="2147483819" r:id="rId7"/>
    <p:sldLayoutId id="2147483828" r:id="rId8"/>
    <p:sldLayoutId id="2147483817" r:id="rId9"/>
    <p:sldLayoutId id="2147483830" r:id="rId10"/>
    <p:sldLayoutId id="214748383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1736DC-10E9-48A2-959F-FA845161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Cover1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4FEC-8D65-40BD-857A-87F85541C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0</a:t>
            </a:fld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B067E-74E1-A2D6-F638-3F8F5AC35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SG" sz="3600" b="1" dirty="0"/>
              <a:t>Client Name</a:t>
            </a:r>
            <a:br>
              <a:rPr lang="en-SG" sz="3600" b="1" dirty="0"/>
            </a:br>
            <a:r>
              <a:rPr lang="en-SG" sz="2400" b="0" dirty="0"/>
              <a:t>Report Title</a:t>
            </a:r>
            <a:br>
              <a:rPr lang="en-SG" sz="3200" b="0" dirty="0"/>
            </a:br>
            <a:r>
              <a:rPr lang="en-SG" sz="1600" b="0" dirty="0" err="1"/>
              <a:t>Mmmm</a:t>
            </a:r>
            <a:r>
              <a:rPr lang="en-SG" sz="1600" b="0" dirty="0"/>
              <a:t> YYYY</a:t>
            </a:r>
            <a:br>
              <a:rPr lang="en-SG" sz="4400" b="0" dirty="0"/>
            </a:br>
            <a:br>
              <a:rPr lang="en-SG" dirty="0"/>
            </a:br>
            <a:r>
              <a:rPr lang="en-SG" sz="2000" b="1" dirty="0">
                <a:solidFill>
                  <a:srgbClr val="FF0000"/>
                </a:solidFill>
              </a:rPr>
              <a:t>AI</a:t>
            </a:r>
            <a:r>
              <a:rPr lang="en-SG" sz="2000" b="1" dirty="0"/>
              <a:t> based research</a:t>
            </a:r>
          </a:p>
        </p:txBody>
      </p:sp>
      <p:pic>
        <p:nvPicPr>
          <p:cNvPr id="1026" name="Picture 2" descr="City Landscape Pictures [Stunning!] | Download Free Images on Unsplash">
            <a:extLst>
              <a:ext uri="{FF2B5EF4-FFF2-40B4-BE49-F238E27FC236}">
                <a16:creationId xmlns:a16="http://schemas.microsoft.com/office/drawing/2014/main" id="{5F58663E-A6C6-4A52-AE59-29E91443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641" y="1353216"/>
            <a:ext cx="5818360" cy="388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78ED84-920A-18E9-3C81-CAED2F7A2794}"/>
              </a:ext>
            </a:extLst>
          </p:cNvPr>
          <p:cNvSpPr/>
          <p:nvPr/>
        </p:nvSpPr>
        <p:spPr>
          <a:xfrm>
            <a:off x="9610725" y="3066595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Use some fancy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FC5406-003E-AAC7-D34E-D0C4BF313593}"/>
              </a:ext>
            </a:extLst>
          </p:cNvPr>
          <p:cNvSpPr/>
          <p:nvPr/>
        </p:nvSpPr>
        <p:spPr>
          <a:xfrm>
            <a:off x="4045693" y="4962070"/>
            <a:ext cx="1612158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 dirty="0"/>
              <a:t>Insert client logo here</a:t>
            </a:r>
          </a:p>
        </p:txBody>
      </p:sp>
    </p:spTree>
    <p:extLst>
      <p:ext uri="{BB962C8B-B14F-4D97-AF65-F5344CB8AC3E}">
        <p14:creationId xmlns:p14="http://schemas.microsoft.com/office/powerpoint/2010/main" val="84077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ADB22-0BA8-9634-F679-781A79F46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1</a:t>
            </a:fld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0D688-D759-3AED-6DAC-E7648DDAA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66D66-A859-76E4-D85C-A95BE501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Background1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70FA4-06F8-FAC5-1C1E-D18042DAD4C3}"/>
              </a:ext>
            </a:extLst>
          </p:cNvPr>
          <p:cNvSpPr txBox="1"/>
          <p:nvPr/>
        </p:nvSpPr>
        <p:spPr>
          <a:xfrm>
            <a:off x="504371" y="1529612"/>
            <a:ext cx="517215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PROSPAN is a natural cough remedy brand for treating cold &amp; flu that will be launched in the USA in mid-2023. </a:t>
            </a:r>
            <a:r>
              <a:rPr lang="en-US" sz="1600" b="0" kern="1200" err="1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Megalabs</a:t>
            </a:r>
            <a:r>
              <a:rPr lang="en-US" sz="16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is a distributor of </a:t>
            </a:r>
            <a:r>
              <a:rPr lang="en-US" sz="1600" b="0" kern="1200" err="1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Prospan</a:t>
            </a:r>
            <a:r>
              <a:rPr lang="en-US" sz="16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.</a:t>
            </a:r>
          </a:p>
          <a:p>
            <a:endParaRPr lang="en-US" sz="1600" b="0" kern="1200">
              <a:solidFill>
                <a:schemeClr val="tx1"/>
              </a:solidFill>
              <a:effectLst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sz="1400" b="0" kern="1200" err="1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Prospan</a:t>
            </a:r>
            <a:r>
              <a:rPr lang="en-SG" sz="14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is currently positioned as having no sugar, no alcohol/drugs, and does not cause drowsiness.</a:t>
            </a:r>
            <a:endParaRPr lang="en-IN" sz="1400" b="0" kern="1200">
              <a:solidFill>
                <a:schemeClr val="tx1"/>
              </a:solidFill>
              <a:effectLst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sz="14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As they are dietary supplements, there are restrictions on what they can communicate to consumers.</a:t>
            </a:r>
            <a:endParaRPr lang="en-US" sz="1400" b="0" kern="1200">
              <a:solidFill>
                <a:schemeClr val="tx1"/>
              </a:solidFill>
              <a:effectLst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kern="1200">
                <a:solidFill>
                  <a:schemeClr val="tx1"/>
                </a:solidFill>
                <a:effectLst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They are not OTC products in US and have limited doctor’s reach.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4AF0F0-ABD2-AA82-417B-4157026D9876}"/>
              </a:ext>
            </a:extLst>
          </p:cNvPr>
          <p:cNvSpPr txBox="1"/>
          <p:nvPr/>
        </p:nvSpPr>
        <p:spPr>
          <a:xfrm>
            <a:off x="6515480" y="1796823"/>
            <a:ext cx="504579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Determine ideal consumer targets and communication channels to build a launch strategy for </a:t>
            </a:r>
            <a:r>
              <a:rPr lang="en-SG" sz="1800" kern="120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Prospan</a:t>
            </a:r>
            <a:r>
              <a:rPr lang="en-SG" sz="18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N" sz="1800" kern="120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8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IN" sz="1800" kern="120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16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Gather market insights to plan the launch marketing strategy for </a:t>
            </a:r>
            <a:r>
              <a:rPr lang="en-SG" sz="1600" kern="1200" err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Prospan</a:t>
            </a:r>
            <a:endParaRPr lang="en-IN" sz="1600" kern="120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600" kern="120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SG" sz="16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Determine the ideal consumer groups to target, the </a:t>
            </a:r>
            <a:r>
              <a:rPr lang="en-SG" sz="1600" b="1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kids</a:t>
            </a:r>
            <a:r>
              <a:rPr lang="en-SG" sz="16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’ or </a:t>
            </a:r>
            <a:r>
              <a:rPr lang="en-SG" sz="1600" b="1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adults</a:t>
            </a:r>
            <a:r>
              <a:rPr lang="en-SG" sz="16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’ segment</a:t>
            </a:r>
            <a:endParaRPr lang="en-IN" sz="1600" kern="120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4265EA-11B8-0F0B-6325-AE82E89C508E}"/>
              </a:ext>
            </a:extLst>
          </p:cNvPr>
          <p:cNvSpPr/>
          <p:nvPr/>
        </p:nvSpPr>
        <p:spPr>
          <a:xfrm>
            <a:off x="0" y="3609538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Copy information from AI Brief</a:t>
            </a:r>
          </a:p>
        </p:txBody>
      </p:sp>
    </p:spTree>
    <p:extLst>
      <p:ext uri="{BB962C8B-B14F-4D97-AF65-F5344CB8AC3E}">
        <p14:creationId xmlns:p14="http://schemas.microsoft.com/office/powerpoint/2010/main" val="352510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ADB22-0BA8-9634-F679-781A79F46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2</a:t>
            </a:fld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33C23-7F88-E1E4-29D7-FDC682155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B212C6-7E68-868C-5FA6-EA3B3673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Scope1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096BFFD7-48EA-1269-ECF2-0C7BFAFDE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890"/>
              </p:ext>
            </p:extLst>
          </p:nvPr>
        </p:nvGraphicFramePr>
        <p:xfrm>
          <a:off x="520874" y="833260"/>
          <a:ext cx="11144250" cy="516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855">
                  <a:extLst>
                    <a:ext uri="{9D8B030D-6E8A-4147-A177-3AD203B41FA5}">
                      <a16:colId xmlns:a16="http://schemas.microsoft.com/office/drawing/2014/main" val="3717876707"/>
                    </a:ext>
                  </a:extLst>
                </a:gridCol>
                <a:gridCol w="8582395">
                  <a:extLst>
                    <a:ext uri="{9D8B030D-6E8A-4147-A177-3AD203B41FA5}">
                      <a16:colId xmlns:a16="http://schemas.microsoft.com/office/drawing/2014/main" val="854647387"/>
                    </a:ext>
                  </a:extLst>
                </a:gridCol>
              </a:tblGrid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 b="1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Client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ea typeface="SimSun" panose="02010600030101010101" pitchFamily="2" charset="-122"/>
                        <a:cs typeface="Poppins" panose="00000500000000000000" pitchFamily="2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379174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 b="1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Category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SimSun"/>
                        <a:cs typeface="Poppin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553466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 b="1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Sub-category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200" i="1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940477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200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Geography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 kern="1200">
                        <a:solidFill>
                          <a:schemeClr val="tx1"/>
                        </a:solidFill>
                        <a:effectLst/>
                        <a:latin typeface="Poppins"/>
                        <a:ea typeface="SimSun"/>
                        <a:cs typeface="Poppin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99276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 b="1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Time Period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400" kern="1200">
                        <a:solidFill>
                          <a:schemeClr val="tx1"/>
                        </a:solidFill>
                        <a:effectLst/>
                        <a:latin typeface="Poppins"/>
                        <a:ea typeface="SimSun"/>
                        <a:cs typeface="Poppin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398809"/>
                  </a:ext>
                </a:extLst>
              </a:tr>
              <a:tr h="4382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 b="1">
                          <a:solidFill>
                            <a:schemeClr val="tx1"/>
                          </a:solidFill>
                          <a:effectLst/>
                          <a:latin typeface="Poppins"/>
                          <a:ea typeface="DengXian"/>
                          <a:cs typeface="Cordia New"/>
                        </a:rPr>
                        <a:t>Segment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728678"/>
                  </a:ext>
                </a:extLst>
              </a:tr>
              <a:tr h="25381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b="1">
                          <a:effectLst/>
                          <a:latin typeface="Poppins"/>
                          <a:ea typeface="DengXian"/>
                          <a:cs typeface="Cordia New"/>
                        </a:rPr>
                        <a:t>Brands in scope </a:t>
                      </a:r>
                      <a:endParaRPr lang="en-SG" sz="1400" b="1">
                        <a:effectLst/>
                        <a:latin typeface="Poppins" panose="00000500000000000000" pitchFamily="2" charset="0"/>
                        <a:ea typeface="DengXian" panose="020B0503020204020204" pitchFamily="2" charset="-122"/>
                        <a:cs typeface="Cordia New" panose="020B0304020202020204" pitchFamily="34" charset="-34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SG" sz="1400" b="1">
                          <a:effectLst/>
                          <a:latin typeface="Poppins"/>
                          <a:ea typeface="DengXian"/>
                          <a:cs typeface="Cordia New"/>
                        </a:rPr>
                        <a:t>(&amp; competitors)</a:t>
                      </a:r>
                      <a:endParaRPr lang="en-IN" sz="1400">
                        <a:effectLst/>
                        <a:latin typeface="Poppins"/>
                        <a:ea typeface="DengXian"/>
                        <a:cs typeface="Cordia New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SG" sz="1400" b="0" kern="1200">
                        <a:solidFill>
                          <a:schemeClr val="tx1"/>
                        </a:solidFill>
                        <a:effectLst/>
                        <a:latin typeface="Poppins"/>
                        <a:ea typeface="SimSun"/>
                        <a:cs typeface="Poppin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6068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B20E0D1-EC40-F7C1-62E0-68848B3564BA}"/>
              </a:ext>
            </a:extLst>
          </p:cNvPr>
          <p:cNvSpPr/>
          <p:nvPr/>
        </p:nvSpPr>
        <p:spPr>
          <a:xfrm>
            <a:off x="0" y="3609538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Copy information from AI Brief</a:t>
            </a:r>
          </a:p>
        </p:txBody>
      </p:sp>
    </p:spTree>
    <p:extLst>
      <p:ext uri="{BB962C8B-B14F-4D97-AF65-F5344CB8AC3E}">
        <p14:creationId xmlns:p14="http://schemas.microsoft.com/office/powerpoint/2010/main" val="70078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ADB22-0BA8-9634-F679-781A79F46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3</a:t>
            </a:fld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1E8E7E-6FE9-4CBE-F777-F3A70BB149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0CA2956-3252-F1A7-C9EB-97D40977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Data_Asks1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EA797927-2B0C-47E4-1151-7515B00D8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96803"/>
              </p:ext>
            </p:extLst>
          </p:nvPr>
        </p:nvGraphicFramePr>
        <p:xfrm>
          <a:off x="516048" y="2509989"/>
          <a:ext cx="11162922" cy="1320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1461">
                  <a:extLst>
                    <a:ext uri="{9D8B030D-6E8A-4147-A177-3AD203B41FA5}">
                      <a16:colId xmlns:a16="http://schemas.microsoft.com/office/drawing/2014/main" val="2209443137"/>
                    </a:ext>
                  </a:extLst>
                </a:gridCol>
                <a:gridCol w="5581461">
                  <a:extLst>
                    <a:ext uri="{9D8B030D-6E8A-4147-A177-3AD203B41FA5}">
                      <a16:colId xmlns:a16="http://schemas.microsoft.com/office/drawing/2014/main" val="1600666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SG" sz="1400" b="1">
                          <a:solidFill>
                            <a:schemeClr val="tx1"/>
                          </a:solidFill>
                        </a:rPr>
                        <a:t>What questions are we answering?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400">
                          <a:solidFill>
                            <a:schemeClr val="tx1"/>
                          </a:solidFill>
                        </a:rPr>
                        <a:t>What insights matter?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54844"/>
                  </a:ext>
                </a:extLst>
              </a:tr>
              <a:tr h="832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Where are they purchasing other brands from?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SG" sz="140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How are they looking at purchase channels? 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1"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Channels they consider purchasing</a:t>
                      </a:r>
                      <a:r>
                        <a:rPr lang="en-SG" sz="1400"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SG" sz="1400" kern="120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natural cough syrup brands</a:t>
                      </a:r>
                      <a:r>
                        <a:rPr lang="en-SG" sz="1400" kern="120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ea typeface="Times New Roman" panose="02020603050405020304" pitchFamily="18" charset="0"/>
                          <a:cs typeface="Poppins" panose="00000500000000000000" pitchFamily="2" charset="0"/>
                        </a:rPr>
                        <a:t> (includes both retail and e-commerce)</a:t>
                      </a:r>
                    </a:p>
                  </a:txBody>
                  <a:tcPr marL="137160" marR="137160" marT="137160" marB="13716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554035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2287CFE-F403-E137-F973-093DDD397EDB}"/>
              </a:ext>
            </a:extLst>
          </p:cNvPr>
          <p:cNvSpPr/>
          <p:nvPr/>
        </p:nvSpPr>
        <p:spPr>
          <a:xfrm>
            <a:off x="0" y="3609538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Copy information from AI Brief</a:t>
            </a:r>
          </a:p>
        </p:txBody>
      </p:sp>
    </p:spTree>
    <p:extLst>
      <p:ext uri="{BB962C8B-B14F-4D97-AF65-F5344CB8AC3E}">
        <p14:creationId xmlns:p14="http://schemas.microsoft.com/office/powerpoint/2010/main" val="262033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1736DC-10E9-48A2-959F-FA845161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Section1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4FEC-8D65-40BD-857A-87F85541C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4</a:t>
            </a:fld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7B385-A238-E799-F336-D9A6A3EFF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 dirty="0"/>
              <a:t>What is the next section covering?</a:t>
            </a:r>
          </a:p>
        </p:txBody>
      </p:sp>
      <p:pic>
        <p:nvPicPr>
          <p:cNvPr id="1026" name="Picture 2" descr="City Landscape Pictures [Stunning!] | Download Free Images on Unsplash">
            <a:extLst>
              <a:ext uri="{FF2B5EF4-FFF2-40B4-BE49-F238E27FC236}">
                <a16:creationId xmlns:a16="http://schemas.microsoft.com/office/drawing/2014/main" id="{5F58663E-A6C6-4A52-AE59-29E91443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641" y="1353216"/>
            <a:ext cx="5818360" cy="388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78ED84-920A-18E9-3C81-CAED2F7A2794}"/>
              </a:ext>
            </a:extLst>
          </p:cNvPr>
          <p:cNvSpPr/>
          <p:nvPr/>
        </p:nvSpPr>
        <p:spPr>
          <a:xfrm>
            <a:off x="9610725" y="3066595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 dirty="0"/>
              <a:t>Use some fancy picture</a:t>
            </a:r>
          </a:p>
        </p:txBody>
      </p:sp>
    </p:spTree>
    <p:extLst>
      <p:ext uri="{BB962C8B-B14F-4D97-AF65-F5344CB8AC3E}">
        <p14:creationId xmlns:p14="http://schemas.microsoft.com/office/powerpoint/2010/main" val="409932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ADB22-0BA8-9634-F679-781A79F46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5</a:t>
            </a:fld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21B4A-0BA0-20C3-2986-AC654668E1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graphicFrame>
        <p:nvGraphicFramePr>
          <p:cNvPr id="12" name="Table Placeholder 6">
            <a:extLst>
              <a:ext uri="{FF2B5EF4-FFF2-40B4-BE49-F238E27FC236}">
                <a16:creationId xmlns:a16="http://schemas.microsoft.com/office/drawing/2014/main" id="{39AD6CB4-6F09-456E-5C9A-E485908FE0C3}"/>
              </a:ext>
            </a:extLst>
          </p:cNvPr>
          <p:cNvGraphicFramePr>
            <a:graphicFrameLocks noGrp="1"/>
          </p:cNvGraphicFramePr>
          <p:nvPr>
            <p:ph type="tbl" sz="quarter" idx="19"/>
            <p:extLst>
              <p:ext uri="{D42A27DB-BD31-4B8C-83A1-F6EECF244321}">
                <p14:modId xmlns:p14="http://schemas.microsoft.com/office/powerpoint/2010/main" val="221232406"/>
              </p:ext>
            </p:extLst>
          </p:nvPr>
        </p:nvGraphicFramePr>
        <p:xfrm>
          <a:off x="7267575" y="1501775"/>
          <a:ext cx="3595688" cy="3120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3058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000000"/>
                          </a:solidFill>
                          <a:latin typeface="Arial (Body)"/>
                        </a:defRPr>
                      </a:pPr>
                      <a:r>
                        <a:rPr lang="en-SG" sz="2500">
                          <a:latin typeface="+mj-lt"/>
                          <a:cs typeface="Poppins" panose="00000500000000000000" pitchFamily="2" charset="0"/>
                        </a:rPr>
                        <a:t>_Country</a:t>
                      </a:r>
                      <a:endParaRPr sz="2500">
                        <a:latin typeface="+mj-lt"/>
                        <a:cs typeface="Poppins" panose="00000500000000000000" pitchFamily="2" charset="0"/>
                      </a:endParaRPr>
                    </a:p>
                  </a:txBody>
                  <a:tcPr marL="113783" marR="113783" marT="56891" marB="568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043"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000000"/>
                          </a:solidFill>
                          <a:latin typeface="Arial (Body)"/>
                        </a:defRPr>
                      </a:pPr>
                      <a:r>
                        <a:rPr lang="en-SG" sz="6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  <a:endParaRPr sz="60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113783" marR="113783" marT="56891" marB="56891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5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 (Body)"/>
                        </a:defRPr>
                      </a:pPr>
                      <a:r>
                        <a:rPr sz="1100">
                          <a:latin typeface="+mn-lt"/>
                          <a:cs typeface="Poppins" panose="00000500000000000000" pitchFamily="2" charset="0"/>
                        </a:rPr>
                        <a:t>UNIQUE </a:t>
                      </a:r>
                      <a:r>
                        <a:rPr lang="en-SG" sz="1100">
                          <a:latin typeface="+mn-lt"/>
                          <a:cs typeface="Poppins" panose="00000500000000000000" pitchFamily="2" charset="0"/>
                        </a:rPr>
                        <a:t>_SEGMENT</a:t>
                      </a:r>
                      <a:endParaRPr sz="1100">
                        <a:latin typeface="+mn-lt"/>
                        <a:cs typeface="Poppins" panose="00000500000000000000" pitchFamily="2" charset="0"/>
                      </a:endParaRPr>
                    </a:p>
                  </a:txBody>
                  <a:tcPr marL="113783" marR="113783" marT="56891" marB="568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0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4800" b="1">
                          <a:solidFill>
                            <a:srgbClr val="000000"/>
                          </a:solidFill>
                          <a:latin typeface="Arial (Body)"/>
                        </a:defRPr>
                      </a:pPr>
                      <a:r>
                        <a:rPr lang="en-SG" sz="6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-</a:t>
                      </a:r>
                      <a:endParaRPr sz="60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113783" marR="113783" marT="56891" marB="568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5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 (Body)"/>
                        </a:defRPr>
                      </a:pPr>
                      <a:r>
                        <a:rPr sz="1100">
                          <a:latin typeface="+mn-lt"/>
                          <a:cs typeface="Poppins" panose="00000500000000000000" pitchFamily="2" charset="0"/>
                        </a:rPr>
                        <a:t>CONVERSATIONS</a:t>
                      </a:r>
                    </a:p>
                  </a:txBody>
                  <a:tcPr marL="113783" marR="113783" marT="56891" marB="5689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17B3FB6-C693-D10E-E196-FBB01D3037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We searched for a unique sample set talking about _Category by _Segment in _Country during _Period.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A2602C4E-9DE8-C521-3506-B6A48FFD9396}"/>
              </a:ext>
            </a:extLst>
          </p:cNvPr>
          <p:cNvGraphicFramePr>
            <a:graphicFrameLocks noGrp="1"/>
          </p:cNvGraphicFramePr>
          <p:nvPr>
            <p:ph type="tbl" sz="quarter" idx="24"/>
            <p:extLst>
              <p:ext uri="{D42A27DB-BD31-4B8C-83A1-F6EECF244321}">
                <p14:modId xmlns:p14="http://schemas.microsoft.com/office/powerpoint/2010/main" val="4278606684"/>
              </p:ext>
            </p:extLst>
          </p:nvPr>
        </p:nvGraphicFramePr>
        <p:xfrm>
          <a:off x="561975" y="4725988"/>
          <a:ext cx="5060950" cy="12354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1984136196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3256339159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541975064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1597210634"/>
                    </a:ext>
                  </a:extLst>
                </a:gridCol>
                <a:gridCol w="1012190">
                  <a:extLst>
                    <a:ext uri="{9D8B030D-6E8A-4147-A177-3AD203B41FA5}">
                      <a16:colId xmlns:a16="http://schemas.microsoft.com/office/drawing/2014/main" val="3513595297"/>
                    </a:ext>
                  </a:extLst>
                </a:gridCol>
              </a:tblGrid>
              <a:tr h="617706"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989678"/>
                  </a:ext>
                </a:extLst>
              </a:tr>
              <a:tr h="617706"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b="0"/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77576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10A0CF1-A926-3DD5-565A-068B25D0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286" y="-664013"/>
            <a:ext cx="4027543" cy="907977"/>
          </a:xfrm>
        </p:spPr>
        <p:txBody>
          <a:bodyPr>
            <a:noAutofit/>
          </a:bodyPr>
          <a:lstStyle/>
          <a:p>
            <a:pPr algn="l"/>
            <a:r>
              <a:rPr lang="en-SG" sz="2600" dirty="0"/>
              <a:t>SOW3</a:t>
            </a:r>
          </a:p>
        </p:txBody>
      </p:sp>
    </p:spTree>
    <p:extLst>
      <p:ext uri="{BB962C8B-B14F-4D97-AF65-F5344CB8AC3E}">
        <p14:creationId xmlns:p14="http://schemas.microsoft.com/office/powerpoint/2010/main" val="312794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24D2BB-EB7E-EE2C-9F69-D0AE21490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6</a:t>
            </a:fld>
            <a:endParaRPr lang="en-S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2FCF76-6814-902E-3B81-6B0E4D0A26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 dirty="0"/>
              <a:t>Scores are derived from conversations by stated sample set (n=) and sorted in descending order.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63F45241-0BFB-5838-773B-15A133472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SG" dirty="0"/>
              <a:t>For core commentary.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87F4D-902C-647F-277D-5B653FAD01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_Country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5FDA4DC-DAA1-6696-9A0B-A9B51CEAD3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 dirty="0"/>
              <a:t>_Segment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065FD986-8300-BD53-96EE-457D4CAA0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SG" dirty="0"/>
              <a:t>For supplementary commentary.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730D7-C59B-6666-0119-28F110E16D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A8C7C2-B2C0-233A-BF41-2F8F968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Content_Table10</a:t>
            </a:r>
          </a:p>
        </p:txBody>
      </p:sp>
      <p:graphicFrame>
        <p:nvGraphicFramePr>
          <p:cNvPr id="7" name="Table 14">
            <a:extLst>
              <a:ext uri="{FF2B5EF4-FFF2-40B4-BE49-F238E27FC236}">
                <a16:creationId xmlns:a16="http://schemas.microsoft.com/office/drawing/2014/main" id="{39E11CAD-453B-92DC-E540-13507CE4FB67}"/>
              </a:ext>
            </a:extLst>
          </p:cNvPr>
          <p:cNvGraphicFramePr>
            <a:graphicFrameLocks noGrp="1"/>
          </p:cNvGraphicFramePr>
          <p:nvPr>
            <p:ph type="tbl" sz="quarter" idx="20"/>
            <p:extLst>
              <p:ext uri="{D42A27DB-BD31-4B8C-83A1-F6EECF244321}">
                <p14:modId xmlns:p14="http://schemas.microsoft.com/office/powerpoint/2010/main" val="3188005667"/>
              </p:ext>
            </p:extLst>
          </p:nvPr>
        </p:nvGraphicFramePr>
        <p:xfrm>
          <a:off x="3651250" y="2297113"/>
          <a:ext cx="7702549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1934">
                  <a:extLst>
                    <a:ext uri="{9D8B030D-6E8A-4147-A177-3AD203B41FA5}">
                      <a16:colId xmlns:a16="http://schemas.microsoft.com/office/drawing/2014/main" val="1769189718"/>
                    </a:ext>
                  </a:extLst>
                </a:gridCol>
                <a:gridCol w="1990615">
                  <a:extLst>
                    <a:ext uri="{9D8B030D-6E8A-4147-A177-3AD203B41FA5}">
                      <a16:colId xmlns:a16="http://schemas.microsoft.com/office/drawing/2014/main" val="3619321703"/>
                    </a:ext>
                  </a:extLst>
                </a:gridCol>
              </a:tblGrid>
              <a:tr h="1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b="1">
                          <a:solidFill>
                            <a:schemeClr val="tx1"/>
                          </a:solidFill>
                        </a:rPr>
                        <a:t>_Type _Subtype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0" i="1" u="none">
                          <a:solidFill>
                            <a:schemeClr val="tx1"/>
                          </a:solidFill>
                        </a:rPr>
                        <a:t>_Segment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854479"/>
                  </a:ext>
                </a:extLst>
              </a:tr>
              <a:tr h="1651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>
                          <a:solidFill>
                            <a:schemeClr val="tx1"/>
                          </a:solidFill>
                        </a:rPr>
                        <a:t>(n=-)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4713002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77854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111920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236753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885053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12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18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9D0E3FF-3631-5F36-B56E-4E12D9E5B8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/>
              <a:t>_Country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3677905-6459-534F-164E-BE3F76E526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/>
              <a:t>_Segment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EB6B151A-9548-596A-3EB8-6724D2DFDC11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For core commentary.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0FEA08-25DA-BDB2-3E32-82EC952E2E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SG"/>
              <a:t>For supplementary commentary.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A5497-62A5-9949-9585-A113B8F6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7</a:t>
            </a:fld>
            <a:endParaRPr lang="en-SG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624DF1A-7836-4B7B-311D-F74727E1C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/>
              <a:t>Scores are derived from conversations by stated base sample (n=) and sorted in descending order.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D5D08-DC43-9A17-21C5-E5323FE12C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2E5329-B64B-9D33-7A7C-8E4F0B82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en-SG" sz="3200" dirty="0"/>
              <a:t>Content_Table11</a:t>
            </a: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FCDBEEFA-86B8-D17C-67D4-DB2A4CC086D7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3274367352"/>
              </p:ext>
            </p:extLst>
          </p:nvPr>
        </p:nvGraphicFramePr>
        <p:xfrm>
          <a:off x="2316163" y="2379663"/>
          <a:ext cx="7559674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5983">
                  <a:extLst>
                    <a:ext uri="{9D8B030D-6E8A-4147-A177-3AD203B41FA5}">
                      <a16:colId xmlns:a16="http://schemas.microsoft.com/office/drawing/2014/main" val="1133380723"/>
                    </a:ext>
                  </a:extLst>
                </a:gridCol>
                <a:gridCol w="1953691">
                  <a:extLst>
                    <a:ext uri="{9D8B030D-6E8A-4147-A177-3AD203B41FA5}">
                      <a16:colId xmlns:a16="http://schemas.microsoft.com/office/drawing/2014/main" val="3844116463"/>
                    </a:ext>
                  </a:extLst>
                </a:gridCol>
              </a:tblGrid>
              <a:tr h="1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b="1">
                          <a:solidFill>
                            <a:schemeClr val="tx1"/>
                          </a:solidFill>
                        </a:rPr>
                        <a:t>_Type _Subtype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b="0" i="1" u="none">
                          <a:solidFill>
                            <a:schemeClr val="tx1"/>
                          </a:solidFill>
                        </a:rPr>
                        <a:t>_Segment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007432"/>
                  </a:ext>
                </a:extLst>
              </a:tr>
              <a:tr h="1651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dirty="0">
                          <a:solidFill>
                            <a:schemeClr val="tx1"/>
                          </a:solidFill>
                        </a:rPr>
                        <a:t>_Brand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 dirty="0">
                          <a:solidFill>
                            <a:schemeClr val="tx1"/>
                          </a:solidFill>
                        </a:rPr>
                        <a:t>(n=-)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8677603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 dirty="0"/>
                        <a:t>-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83799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42333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656722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971595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933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226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9D0E3FF-3631-5F36-B56E-4E12D9E5B8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/>
              <a:t>_Country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3677905-6459-534F-164E-BE3F76E526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/>
              <a:t>_Segment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EB6B151A-9548-596A-3EB8-6724D2DFDC11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For core commentary.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0FEA08-25DA-BDB2-3E32-82EC952E2E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SG"/>
              <a:t>For supplementary commentary.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A5497-62A5-9949-9585-A113B8F6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8</a:t>
            </a:fld>
            <a:endParaRPr lang="en-SG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624DF1A-7836-4B7B-311D-F74727E1C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/>
              <a:t>Scores are derived from conversations by stated base sample (n=) and sorted in descending order.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CD0E2-6E78-62BA-E00D-8E2637D764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2E5329-B64B-9D33-7A7C-8E4F0B82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SG" sz="3200" dirty="0" err="1"/>
              <a:t>DriverEquity_Table</a:t>
            </a:r>
            <a:endParaRPr lang="en-SG" sz="3200" dirty="0"/>
          </a:p>
        </p:txBody>
      </p:sp>
      <p:graphicFrame>
        <p:nvGraphicFramePr>
          <p:cNvPr id="10" name="Table 14">
            <a:extLst>
              <a:ext uri="{FF2B5EF4-FFF2-40B4-BE49-F238E27FC236}">
                <a16:creationId xmlns:a16="http://schemas.microsoft.com/office/drawing/2014/main" id="{6FE605AD-9610-096C-19A2-8D229E5681DB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1155841211"/>
              </p:ext>
            </p:extLst>
          </p:nvPr>
        </p:nvGraphicFramePr>
        <p:xfrm>
          <a:off x="2316163" y="2379663"/>
          <a:ext cx="7559673" cy="280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414">
                  <a:extLst>
                    <a:ext uri="{9D8B030D-6E8A-4147-A177-3AD203B41FA5}">
                      <a16:colId xmlns:a16="http://schemas.microsoft.com/office/drawing/2014/main" val="3675321942"/>
                    </a:ext>
                  </a:extLst>
                </a:gridCol>
                <a:gridCol w="3616307">
                  <a:extLst>
                    <a:ext uri="{9D8B030D-6E8A-4147-A177-3AD203B41FA5}">
                      <a16:colId xmlns:a16="http://schemas.microsoft.com/office/drawing/2014/main" val="1769189718"/>
                    </a:ext>
                  </a:extLst>
                </a:gridCol>
                <a:gridCol w="776238">
                  <a:extLst>
                    <a:ext uri="{9D8B030D-6E8A-4147-A177-3AD203B41FA5}">
                      <a16:colId xmlns:a16="http://schemas.microsoft.com/office/drawing/2014/main" val="3619321703"/>
                    </a:ext>
                  </a:extLst>
                </a:gridCol>
                <a:gridCol w="776238">
                  <a:extLst>
                    <a:ext uri="{9D8B030D-6E8A-4147-A177-3AD203B41FA5}">
                      <a16:colId xmlns:a16="http://schemas.microsoft.com/office/drawing/2014/main" val="239427153"/>
                    </a:ext>
                  </a:extLst>
                </a:gridCol>
                <a:gridCol w="776238">
                  <a:extLst>
                    <a:ext uri="{9D8B030D-6E8A-4147-A177-3AD203B41FA5}">
                      <a16:colId xmlns:a16="http://schemas.microsoft.com/office/drawing/2014/main" val="3555404662"/>
                    </a:ext>
                  </a:extLst>
                </a:gridCol>
                <a:gridCol w="776238">
                  <a:extLst>
                    <a:ext uri="{9D8B030D-6E8A-4147-A177-3AD203B41FA5}">
                      <a16:colId xmlns:a16="http://schemas.microsoft.com/office/drawing/2014/main" val="746807578"/>
                    </a:ext>
                  </a:extLst>
                </a:gridCol>
              </a:tblGrid>
              <a:tr h="1828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Drivers&amp; Equity of usage</a:t>
                      </a:r>
                      <a:endParaRPr lang="en-SG"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0" i="1" u="none" dirty="0">
                          <a:solidFill>
                            <a:schemeClr val="tx1"/>
                          </a:solidFill>
                        </a:rPr>
                        <a:t>_Segment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b="1">
                          <a:solidFill>
                            <a:schemeClr val="tx1"/>
                          </a:solidFill>
                        </a:rPr>
                        <a:t>Drivers&amp; Equity of usage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000" b="0" i="1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000" b="0" i="1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000" b="0" i="1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1000" b="0" i="1" u="none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4854479"/>
                  </a:ext>
                </a:extLst>
              </a:tr>
              <a:tr h="1651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>
                          <a:solidFill>
                            <a:schemeClr val="tx1"/>
                          </a:solidFill>
                        </a:rPr>
                        <a:t>Driver Scores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>
                          <a:solidFill>
                            <a:schemeClr val="tx1"/>
                          </a:solidFill>
                        </a:rPr>
                        <a:t>Driver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>
                          <a:solidFill>
                            <a:schemeClr val="tx1"/>
                          </a:solidFill>
                        </a:rPr>
                        <a:t>Brand_1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>
                          <a:solidFill>
                            <a:schemeClr val="tx1"/>
                          </a:solidFill>
                        </a:rPr>
                        <a:t>Brand_2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>
                          <a:solidFill>
                            <a:schemeClr val="tx1"/>
                          </a:solidFill>
                        </a:rPr>
                        <a:t>Brand_3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00" b="0" u="none">
                          <a:solidFill>
                            <a:schemeClr val="tx1"/>
                          </a:solidFill>
                        </a:rPr>
                        <a:t>Brand_4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4713002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pPr algn="ctr"/>
                      <a:r>
                        <a:rPr lang="en-SG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77854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pPr algn="ctr"/>
                      <a:r>
                        <a:rPr lang="en-SG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993136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pPr algn="ctr"/>
                      <a:r>
                        <a:rPr lang="en-SG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534018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pPr algn="ctr"/>
                      <a:r>
                        <a:rPr lang="en-SG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800"/>
                        <a:t>-</a:t>
                      </a:r>
                      <a:endParaRPr lang="en-SG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67"/>
                  </a:ext>
                </a:extLst>
              </a:tr>
              <a:tr h="182877">
                <a:tc>
                  <a:txBody>
                    <a:bodyPr/>
                    <a:lstStyle/>
                    <a:p>
                      <a:pPr algn="ctr"/>
                      <a:r>
                        <a:rPr lang="en-SG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800" dirty="0"/>
                        <a:t>-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92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14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9D0E3FF-3631-5F36-B56E-4E12D9E5B8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/>
              <a:t>_Country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3677905-6459-534F-164E-BE3F76E526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SG"/>
              <a:t>_Segment</a:t>
            </a: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EB6B151A-9548-596A-3EB8-6724D2DFDC11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For core commentary.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0FEA08-25DA-BDB2-3E32-82EC952E2E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SG"/>
              <a:t>For supplementary commentary.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A5497-62A5-9949-9585-A113B8F6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9</a:t>
            </a:fld>
            <a:endParaRPr lang="en-SG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1624DF1A-7836-4B7B-311D-F74727E1C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SG"/>
              <a:t>Scores are derived from conversations by stated base sample (n=) and sorted in descending order.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9136E-EB4D-9273-875E-F1DC29F6BF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2E5329-B64B-9D33-7A7C-8E4F0B82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SG" sz="3200" dirty="0" err="1"/>
              <a:t>EmergingTrends</a:t>
            </a:r>
            <a:endParaRPr lang="en-SG" sz="3200" dirty="0"/>
          </a:p>
        </p:txBody>
      </p:sp>
      <p:graphicFrame>
        <p:nvGraphicFramePr>
          <p:cNvPr id="11" name="Chart Placeholder 17">
            <a:extLst>
              <a:ext uri="{FF2B5EF4-FFF2-40B4-BE49-F238E27FC236}">
                <a16:creationId xmlns:a16="http://schemas.microsoft.com/office/drawing/2014/main" id="{0771A166-E36B-3EFB-49D5-184911AA40C5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293351991"/>
              </p:ext>
            </p:extLst>
          </p:nvPr>
        </p:nvGraphicFramePr>
        <p:xfrm>
          <a:off x="2316163" y="2379663"/>
          <a:ext cx="7559675" cy="404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1512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00778F1-E88D-3698-387A-94ED8037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KOL1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88A16-12CF-D360-ECA5-CE9A23B1F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10</a:t>
            </a:fld>
            <a:endParaRPr lang="en-SG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EE13D05-A722-CCDB-B63C-F7EAA991E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B8273-093B-B51D-D063-01ED27E8A89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Who are the top influencers/Key Opinion Leaders?</a:t>
            </a:r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2E2E6550-00D3-37D0-833B-04E31747098B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896430596"/>
              </p:ext>
            </p:extLst>
          </p:nvPr>
        </p:nvGraphicFramePr>
        <p:xfrm>
          <a:off x="328613" y="2551113"/>
          <a:ext cx="11466510" cy="1066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11085">
                  <a:extLst>
                    <a:ext uri="{9D8B030D-6E8A-4147-A177-3AD203B41FA5}">
                      <a16:colId xmlns:a16="http://schemas.microsoft.com/office/drawing/2014/main" val="4059974437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439200962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2643330895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181830207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389427065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1181233440"/>
                    </a:ext>
                  </a:extLst>
                </a:gridCol>
              </a:tblGrid>
              <a:tr h="220300">
                <a:tc>
                  <a:txBody>
                    <a:bodyPr/>
                    <a:lstStyle/>
                    <a:p>
                      <a:r>
                        <a:rPr lang="en-SG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81325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Influencer Name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56163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Impact Score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641317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Engagement Platform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305512"/>
                  </a:ext>
                </a:extLst>
              </a:tr>
            </a:tbl>
          </a:graphicData>
        </a:graphic>
      </p:graphicFrame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1E0A56AE-6831-A769-73F9-4BD8634D955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012445590"/>
              </p:ext>
            </p:extLst>
          </p:nvPr>
        </p:nvGraphicFramePr>
        <p:xfrm>
          <a:off x="359288" y="5316538"/>
          <a:ext cx="11466510" cy="1066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11085">
                  <a:extLst>
                    <a:ext uri="{9D8B030D-6E8A-4147-A177-3AD203B41FA5}">
                      <a16:colId xmlns:a16="http://schemas.microsoft.com/office/drawing/2014/main" val="4059974437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439200962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2643330895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181830207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3389427065"/>
                    </a:ext>
                  </a:extLst>
                </a:gridCol>
                <a:gridCol w="1911085">
                  <a:extLst>
                    <a:ext uri="{9D8B030D-6E8A-4147-A177-3AD203B41FA5}">
                      <a16:colId xmlns:a16="http://schemas.microsoft.com/office/drawing/2014/main" val="1181233440"/>
                    </a:ext>
                  </a:extLst>
                </a:gridCol>
              </a:tblGrid>
              <a:tr h="220300">
                <a:tc>
                  <a:txBody>
                    <a:bodyPr/>
                    <a:lstStyle/>
                    <a:p>
                      <a:r>
                        <a:rPr lang="en-SG" sz="10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81325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Influencer Name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56163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Impact Score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641317"/>
                  </a:ext>
                </a:extLst>
              </a:tr>
              <a:tr h="220300">
                <a:tc>
                  <a:txBody>
                    <a:bodyPr/>
                    <a:lstStyle/>
                    <a:p>
                      <a:r>
                        <a:rPr lang="en-SG" sz="1200" b="1">
                          <a:solidFill>
                            <a:schemeClr val="tx1"/>
                          </a:solidFill>
                        </a:rPr>
                        <a:t>Engagement Platform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305512"/>
                  </a:ext>
                </a:extLst>
              </a:tr>
            </a:tbl>
          </a:graphicData>
        </a:graphic>
      </p:graphicFrame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7B0EE9CD-01BC-4CDD-BA23-EB19FF7B43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4914" y="936625"/>
            <a:ext cx="1439862" cy="14398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4F39A3EE-66E2-CF50-E313-32FDE417A4C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94200" y="936625"/>
            <a:ext cx="1439863" cy="14398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52C0BB35-E440-10ED-3671-9483769EE1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3488" y="936625"/>
            <a:ext cx="1439862" cy="14398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815DE44B-F206-8FD4-B89A-BEA20FBFC9D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32775" y="936625"/>
            <a:ext cx="1439863" cy="14398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89444794-6894-A020-7A59-1C39AB34513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52063" y="936625"/>
            <a:ext cx="1439862" cy="14398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596AB9A3-9412-91B3-8DD5-886B0595C85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74914" y="3738563"/>
            <a:ext cx="1439862" cy="14398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E24D84C6-D6A2-F1AA-B9B6-03EA0471E6B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94200" y="3738563"/>
            <a:ext cx="1439863" cy="14398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A8F5FE0-97DE-3682-AEE2-BFC7E1606A5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13488" y="3738563"/>
            <a:ext cx="1439862" cy="14398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0229DABD-E8E5-FA48-F31A-684F2583521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32775" y="3738563"/>
            <a:ext cx="1439863" cy="14398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322A09EB-32DB-9229-AD20-78D5E8A1D94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152063" y="3738563"/>
            <a:ext cx="1439862" cy="143986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4368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4FEC-8D65-40BD-857A-87F85541C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11</a:t>
            </a:fld>
            <a:endParaRPr lang="en-S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7360A-BEB5-8661-F5A7-C262199B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End1</a:t>
            </a:r>
          </a:p>
        </p:txBody>
      </p:sp>
      <p:pic>
        <p:nvPicPr>
          <p:cNvPr id="1026" name="Picture 2" descr="City Landscape Pictures [Stunning!] | Download Free Images on Unsplash">
            <a:extLst>
              <a:ext uri="{FF2B5EF4-FFF2-40B4-BE49-F238E27FC236}">
                <a16:creationId xmlns:a16="http://schemas.microsoft.com/office/drawing/2014/main" id="{5F58663E-A6C6-4A52-AE59-29E91443E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641" y="1353216"/>
            <a:ext cx="5818360" cy="388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78ED84-920A-18E9-3C81-CAED2F7A2794}"/>
              </a:ext>
            </a:extLst>
          </p:cNvPr>
          <p:cNvSpPr/>
          <p:nvPr/>
        </p:nvSpPr>
        <p:spPr>
          <a:xfrm>
            <a:off x="9610725" y="3066595"/>
            <a:ext cx="2581275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Use some fancy picture</a:t>
            </a:r>
          </a:p>
        </p:txBody>
      </p:sp>
      <p:pic>
        <p:nvPicPr>
          <p:cNvPr id="10" name="Picture 9" descr="Inicio - MEGALABS">
            <a:extLst>
              <a:ext uri="{FF2B5EF4-FFF2-40B4-BE49-F238E27FC236}">
                <a16:creationId xmlns:a16="http://schemas.microsoft.com/office/drawing/2014/main" id="{F00BDEEA-6467-B689-012A-D502898422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35"/>
          <a:stretch/>
        </p:blipFill>
        <p:spPr bwMode="auto">
          <a:xfrm>
            <a:off x="4349769" y="5594774"/>
            <a:ext cx="1398293" cy="28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712C55-261C-7D1E-6170-9D0A636DB75A}"/>
              </a:ext>
            </a:extLst>
          </p:cNvPr>
          <p:cNvSpPr/>
          <p:nvPr/>
        </p:nvSpPr>
        <p:spPr>
          <a:xfrm>
            <a:off x="4045693" y="4962070"/>
            <a:ext cx="1612158" cy="7248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b="1"/>
              <a:t>Insert client logo here</a:t>
            </a:r>
          </a:p>
        </p:txBody>
      </p:sp>
    </p:spTree>
    <p:extLst>
      <p:ext uri="{BB962C8B-B14F-4D97-AF65-F5344CB8AC3E}">
        <p14:creationId xmlns:p14="http://schemas.microsoft.com/office/powerpoint/2010/main" val="218292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8A238-A45F-53C7-9751-6FD9AE63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Slide 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A5497-62A5-9949-9585-A113B8F6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91D15E1-77D1-4FB9-8D05-E086015A1983}" type="slidenum">
              <a:rPr lang="en-SG" smtClean="0"/>
              <a:pPr/>
              <a:t>12</a:t>
            </a:fld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30A1A-D49B-3884-DBB2-ABF23A14CB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724E6FAE-647D-BD27-38F6-E25D62F5A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10993"/>
              </p:ext>
            </p:extLst>
          </p:nvPr>
        </p:nvGraphicFramePr>
        <p:xfrm>
          <a:off x="359999" y="1303020"/>
          <a:ext cx="11466000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6915">
                  <a:extLst>
                    <a:ext uri="{9D8B030D-6E8A-4147-A177-3AD203B41FA5}">
                      <a16:colId xmlns:a16="http://schemas.microsoft.com/office/drawing/2014/main" val="1096667657"/>
                    </a:ext>
                  </a:extLst>
                </a:gridCol>
                <a:gridCol w="10389085">
                  <a:extLst>
                    <a:ext uri="{9D8B030D-6E8A-4147-A177-3AD203B41FA5}">
                      <a16:colId xmlns:a16="http://schemas.microsoft.com/office/drawing/2014/main" val="2445455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41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Cover page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56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Project objective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63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Current brief/scope (from AI brief)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86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Data Asks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42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Divider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4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Scope of Work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4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6-8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Table Content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98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9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Emerging Trends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05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KOL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15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11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B050"/>
                          </a:solidFill>
                        </a:rPr>
                        <a:t>Thank you</a:t>
                      </a:r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430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12597"/>
      </p:ext>
    </p:extLst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256A93-EBA3-4E56-B6E7-0BA1F1199EF6}">
  <ds:schemaRefs>
    <ds:schemaRef ds:uri="7f88af65-d9c1-41d3-b9f2-ebff45668681"/>
    <ds:schemaRef ds:uri="e5e85e23-9be2-465a-8069-2c0369305d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64F925-A24B-4C06-9BB0-76FFF7984757}"/>
</file>

<file path=customXml/itemProps3.xml><?xml version="1.0" encoding="utf-8"?>
<ds:datastoreItem xmlns:ds="http://schemas.openxmlformats.org/officeDocument/2006/customXml" ds:itemID="{18A1749A-A2B9-46BF-8283-CAA548B607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17405</TotalTime>
  <Words>619</Words>
  <Application>Microsoft Office PowerPoint</Application>
  <PresentationFormat>Widescreen</PresentationFormat>
  <Paragraphs>231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Poppins</vt:lpstr>
      <vt:lpstr>Calibri</vt:lpstr>
      <vt:lpstr>Arial</vt:lpstr>
      <vt:lpstr>GrapheneAI</vt:lpstr>
      <vt:lpstr>Cover1</vt:lpstr>
      <vt:lpstr>Background1</vt:lpstr>
      <vt:lpstr>Scope1</vt:lpstr>
      <vt:lpstr>Data_Asks1</vt:lpstr>
      <vt:lpstr>Section1</vt:lpstr>
      <vt:lpstr>SOW3</vt:lpstr>
      <vt:lpstr>Content_Table10</vt:lpstr>
      <vt:lpstr>Content_Table11</vt:lpstr>
      <vt:lpstr>DriverEquity_Table</vt:lpstr>
      <vt:lpstr>EmergingTrends</vt:lpstr>
      <vt:lpstr>KOL1</vt:lpstr>
      <vt:lpstr>End1</vt:lpstr>
      <vt:lpstr>Slide Order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Lim</dc:creator>
  <cp:lastModifiedBy>John Lee</cp:lastModifiedBy>
  <cp:revision>25</cp:revision>
  <dcterms:created xsi:type="dcterms:W3CDTF">2021-03-29T06:13:29Z</dcterms:created>
  <dcterms:modified xsi:type="dcterms:W3CDTF">2023-08-29T08:01:44Z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  <property fmtid="{D5CDD505-2E9C-101B-9397-08002B2CF9AE}" pid="3" name="MediaServiceImageTags">
    <vt:lpwstr/>
  </property>
</Properties>
</file>