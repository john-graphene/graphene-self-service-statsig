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handoutMasterIdLst>
    <p:handoutMasterId r:id="rId5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3BA1E-F699-2908-FCCA-A0339FBCB1EB}" name="Glenn Lim" initials="GL" userId="S::glenn@graphenesvc.com::c84bccc5-c6d4-4a32-8d4c-384be2b027b2" providerId="AD"/>
  <p188:author id="{0FE04A2E-4EDB-CEAD-A5F5-57AF5A198D2B}" name="Feba James" initials="FJ" userId="S::feba@graphenesvc.com::cb993188-dae5-448b-a48e-68175c56dd5d" providerId="AD"/>
  <p188:author id="{25A15FDD-9A1D-EA93-354B-BC9FD1E2323B}" name="John Lee" initials="JL" userId="S::john@graphenesvc.com::58a3f885-1391-4760-a61f-6b21968352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25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FF918A-F105-E282-F980-F449FC8CE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4134C-538A-BE63-4D61-25BFF9318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33581-10C8-4874-8376-93CC3B71AADA}" type="datetimeFigureOut">
              <a:rPr lang="en-SG" smtClean="0"/>
              <a:t>9/10/2023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CCB33-CA0C-30D9-7A27-2CCB3CC83B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E7C6-7C1E-7DAE-A579-B38DC66BA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7E41-2823-4CF4-9D6D-A3643B5C9B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534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CB451EFC-5CF8-432D-05EB-DC7EE088FF43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7EE266-A5C7-7254-35DB-81104FB4D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854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1C173-A41E-6A22-F17D-40B934A58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1356" y="314203"/>
            <a:ext cx="5482654" cy="275172"/>
          </a:xfrm>
          <a:solidFill>
            <a:srgbClr val="404040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DD99-7F9C-D062-1C21-ABA1FC89A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530D9-38E0-F368-CE5D-66D9EDC8A1F7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753200" y="588100"/>
            <a:chExt cx="5480998" cy="549553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6F14C5-AEE6-7CF2-0D7F-8EBA6CFC5968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4BDFBE-5A16-B05F-AC2B-C61E86B69BA1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93908F-27E4-FFFC-C64A-E450D0EEB7F9}"/>
                </a:ext>
              </a:extLst>
            </p:cNvPr>
            <p:cNvSpPr/>
            <p:nvPr userDrawn="1"/>
          </p:nvSpPr>
          <p:spPr>
            <a:xfrm>
              <a:off x="753200" y="588100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957763-BE4B-ED81-D244-E73401280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400" y="836617"/>
            <a:ext cx="5202600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90537-57AE-836D-9F70-F84B229D2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1710" y="1403350"/>
            <a:ext cx="5207415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D5F2719-9D5C-DA04-1FBA-ADED14D38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398" y="1403350"/>
            <a:ext cx="5202599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55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SG" sz="1600" b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A7BE9-23BD-670D-0477-C2F7A75BB7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C796EF7-4F30-1C87-4224-A375908ED5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60363" y="713051"/>
            <a:ext cx="11464925" cy="5443273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64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1292000B-FBDC-735C-A1EB-16A8623E1BE9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86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09994"/>
            <a:ext cx="11466000" cy="157743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36874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3515669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2577807" cy="284931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3535965"/>
            <a:ext cx="2416855" cy="283055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658648" y="2316766"/>
            <a:ext cx="8167353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999" y="3006016"/>
            <a:ext cx="2782800" cy="2437200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308401" y="3004819"/>
            <a:ext cx="8517600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4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468235"/>
            <a:ext cx="2075073" cy="5898283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BAA720-BA05-B09D-93DA-86E60CA6C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E6BF02-7CA9-25C7-A5E2-69788ECB33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</p:spTree>
    <p:extLst>
      <p:ext uri="{BB962C8B-B14F-4D97-AF65-F5344CB8AC3E}">
        <p14:creationId xmlns:p14="http://schemas.microsoft.com/office/powerpoint/2010/main" val="39768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1970FF7-5683-C4E9-EB46-534376F4408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2306772" y="2196348"/>
            <a:ext cx="7566455" cy="421660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23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800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9" y="6624897"/>
            <a:ext cx="633982" cy="111733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231869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074236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76513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6474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6435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7368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95577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6513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96474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6435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7368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295577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80AE4-8C0B-1504-4472-4EC2ADB3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" y="44680"/>
            <a:ext cx="11459289" cy="582683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6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568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0717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03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5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75" r:id="rId6"/>
    <p:sldLayoutId id="2147483681" r:id="rId7"/>
    <p:sldLayoutId id="2147483686" r:id="rId8"/>
    <p:sldLayoutId id="2147483682" r:id="rId9"/>
    <p:sldLayoutId id="2147483688" r:id="rId10"/>
    <p:sldLayoutId id="2147483689" r:id="rId11"/>
    <p:sldLayoutId id="2147483685" r:id="rId12"/>
    <p:sldLayoutId id="214748368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graphicFrame>
        <p:nvGraphicFramePr>
          <p:cNvPr id="9" name="Table Placeholder 8"/>
          <p:cNvGraphicFramePr>
            <a:graphicFrameLocks noGrp="1"/>
          </p:cNvGraphicFramePr>
          <p:nvPr>
            <p:ph type="tbl" idx="21" sz="quarter"/>
          </p:nvPr>
        </p:nvGraphicFramePr>
        <p:xfrm>
          <a:off x="3658648" y="2316766"/>
          <a:ext cx="33832800" cy="3108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800" b="1" i="0">
                          <a:solidFill>
                            <a:srgbClr val="000000"/>
                          </a:solidFill>
                          <a:latin typeface="Poppins"/>
                        </a:rPr>
                        <a:t>Type/Subtype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 </a:t>
                      </a:r>
                    </a:p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 (Benchmark)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2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3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4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5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6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7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8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9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10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11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12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13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14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15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Segment/Brand 16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Poppins"/>
                        </a:rPr>
                        <a:t>(n= 1101 )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Setup Effort, Time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&amp; Tools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26.6 %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24.0 %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17.1 %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19.8 %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18.7 %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13.7 %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24.3 %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20.0 %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25.6 %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23.4 %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Fabric / Finish Durability &amp;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Appearance Retention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14.4 %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16.1 %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14.5 %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14.5 %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15.6 %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12.7 %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18.7 %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16.1 %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14.1 %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17.8 %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14.3 %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4.9 %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13.2 %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15.3 %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Alignment, Leveling, and Adjustability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11.3 %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11.7 %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10.0 %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9.8 %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11.6 %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4.9 %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13.5 %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9.0 %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11.3 %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7.8 %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7.3 %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12.0 %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Affordability &amp; Price Level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10.9 %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7.5 %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9.7 %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12.8 %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14.9 %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16.0 %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9.7 %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8.8 %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17.5 %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9.2 %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13.4 %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8.8 %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7.4 %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Motor &amp; Electronics Reliability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9.7 %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14.0 %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15.6 %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8.8 %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6.6 %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6.7 %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7.3 %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9.8 %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8.9 %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Premium Positioning &amp; Brand Value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Image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3.8 %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4.1 %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4.3 %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Color &amp; Finish Quality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3.4 %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6.1 %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15.9 %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Availability &amp; Lead Time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Light Control &amp; Privacy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7.2 %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6.6 %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6.1 %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3.4 %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Customer Service &amp; Sales Support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6.4 %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5.3 %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Shipping &amp; Delivery Performance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Ease of Operability &amp; Adjustability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(Manual and Motorized)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Instructions &amp; Guidance (Docs &amp;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Videos)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Manual Operation Performance (Cord and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Cordless)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2.1 %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Perceived Value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00B050"/>
                          </a:solidFill>
                        </a:rP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Mechanism Longevity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4.4 %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Unboxing &amp; Repack Ease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3.3 %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Material Choice &amp; Availability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Promotions, Discounts, &amp; Coupons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Packaging Protection &amp; Damage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Outcomes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2.2 %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Returns, Exchanges, and Refunds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0.9 %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Innovation &amp; Design Leadership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Trust &amp; Reliability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0.7 %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Expertise &amp; Authority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0.8 %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Material Composition &amp; Authenticity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Energy &amp; Acoustic Performance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0.5 %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>
                          <a:solidFill>
                            <a:srgbClr val="FF0000"/>
                          </a:solidFill>
                        </a:rPr>
                        <a:t>1.2 %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Components, Organization, &amp; Small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Parts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0.3 %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Warranty, Repairability, &amp; Parts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Support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0.6 %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0.2 %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Motorized Performance &amp;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Smart Control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0.0 %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Eco &amp; Health Attributes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Sustainability &amp;</a:t>
                      </a:r>
                    </a:p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  Material Waste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Texture &amp; Thickness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0.1 %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t>0.4 %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000000"/>
                          </a:solidFill>
                          <a:latin typeface="Poppins"/>
                        </a:rPr>
                        <a:t>-</a:t>
                      </a:r>
                    </a:p>
                  </a:txBody>
                  <a:tcPr anchor="ctr">
                    <a:lnL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L>
                    <a:lnR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R>
                    <a:lnT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T>
                    <a:lnB w="508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  <a:solidFill>
                        <a:srgbClr val="FFFFFF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7c9d60-aeee-410d-81f2-92985471e2af">
      <UserInfo>
        <DisplayName>Gerald Hay</DisplayName>
        <AccountId>29</AccountId>
        <AccountType/>
      </UserInfo>
      <UserInfo>
        <DisplayName>Glenn Lim</DisplayName>
        <AccountId>28</AccountId>
        <AccountType/>
      </UserInfo>
      <UserInfo>
        <DisplayName>Feba James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A222B8-CE66-4045-A892-690A8F57FF71}">
  <ds:schemaRefs>
    <ds:schemaRef ds:uri="3c7c9d60-aeee-410d-81f2-92985471e2af"/>
    <ds:schemaRef ds:uri="bafb6658-0c98-401a-939f-9b973af27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35D6F4A-0EFA-4E23-BC7C-5DD22311284D}">
  <ds:schemaRefs>
    <ds:schemaRef ds:uri="3c7c9d60-aeee-410d-81f2-92985471e2af"/>
    <ds:schemaRef ds:uri="bafb6658-0c98-401a-939f-9b973af27b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853E8F5-F997-4691-A453-7F92913ACDF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11</cp:revision>
  <dcterms:created xsi:type="dcterms:W3CDTF">2023-08-28T04:36:43Z</dcterms:created>
  <dcterms:modified xsi:type="dcterms:W3CDTF">2023-10-09T09:12:46Z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</Properties>
</file>