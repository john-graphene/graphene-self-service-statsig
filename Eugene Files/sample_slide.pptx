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07" r:id="rId4"/>
  </p:sldMasterIdLst>
  <p:notesMasterIdLst>
    <p:notesMasterId r:id="rId6"/>
  </p:notesMasterIdLst>
  <p:handoutMasterIdLst>
    <p:handoutMasterId r:id="rId7"/>
  </p:handoutMasterIdLst>
  <p:sldIdLst>
    <p:sldId id="425" r:id="rId5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Poppins" panose="00000500000000000000" pitchFamily="50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325D0F5-A0AB-4DF4-9122-19C9301FAA9A}">
          <p14:sldIdLst>
            <p14:sldId id="425"/>
          </p14:sldIdLst>
        </p14:section>
        <p14:section name="Appendix" id="{28C69E62-B5B4-46A3-A1AB-2A44E9DADCF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enn Lim" initials="GL" lastIdx="1" clrIdx="0">
    <p:extLst>
      <p:ext uri="{19B8F6BF-5375-455C-9EA6-DF929625EA0E}">
        <p15:presenceInfo xmlns:p15="http://schemas.microsoft.com/office/powerpoint/2012/main" userId="S::glenn@graphenesvc.com::c84bccc5-c6d4-4a32-8d4c-384be2b027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AFF"/>
    <a:srgbClr val="CCFFFF"/>
    <a:srgbClr val="CCFFCC"/>
    <a:srgbClr val="BFE4FF"/>
    <a:srgbClr val="FFD9D9"/>
    <a:srgbClr val="F2F2F2"/>
    <a:srgbClr val="D0CECE"/>
    <a:srgbClr val="0070C0"/>
    <a:srgbClr val="E6E6E6"/>
    <a:srgbClr val="ABD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0075" autoAdjust="0"/>
  </p:normalViewPr>
  <p:slideViewPr>
    <p:cSldViewPr snapToGrid="0">
      <p:cViewPr varScale="1">
        <p:scale>
          <a:sx n="77" d="100"/>
          <a:sy n="77" d="100"/>
        </p:scale>
        <p:origin x="10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758B19-2B85-4525-A6DE-020D607CE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1D2B6-88E5-4B37-AA8E-948CFAF6F4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36FA-3D70-4B1B-AA34-A0F3FEEF4CAF}" type="datetimeFigureOut">
              <a:rPr lang="en-SG" smtClean="0"/>
              <a:t>8/6/2023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C7537-8260-4C13-ADD4-C2E908DE62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97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EF44F-22DF-4F67-8CA6-6E7B7D1C43B4}" type="datetimeFigureOut">
              <a:rPr lang="en-SG" smtClean="0"/>
              <a:t>8/6/2023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8058C-1146-4E2A-BC10-7A58E9EB2A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41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44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38986B-9950-438E-9AAD-7AF158EC9750}"/>
              </a:ext>
            </a:extLst>
          </p:cNvPr>
          <p:cNvCxnSpPr>
            <a:cxnSpLocks/>
          </p:cNvCxnSpPr>
          <p:nvPr userDrawn="1"/>
        </p:nvCxnSpPr>
        <p:spPr>
          <a:xfrm>
            <a:off x="329082" y="3767454"/>
            <a:ext cx="1153383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2511706"/>
            <a:ext cx="11533836" cy="125574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362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7C405D-956F-4D01-AB23-F08B7E93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184887"/>
            <a:ext cx="11533836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9E44D5-A228-4A90-AE48-9A9A7AE2E689}"/>
              </a:ext>
            </a:extLst>
          </p:cNvPr>
          <p:cNvCxnSpPr>
            <a:cxnSpLocks/>
          </p:cNvCxnSpPr>
          <p:nvPr userDrawn="1"/>
        </p:nvCxnSpPr>
        <p:spPr>
          <a:xfrm>
            <a:off x="329082" y="699797"/>
            <a:ext cx="1153383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1C6A24-58D5-4C68-91A2-130953E6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52B2AD-13A5-46FD-9D91-DC3C7B037715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FFC0EFF-6DA5-4A8A-9EE7-8362C3D66E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EB48557-212D-41BD-ADA9-7D51D81C7A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9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4064400" cy="6857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93482" y="6598199"/>
            <a:ext cx="6592999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3722A2A-6C0C-441E-B2BC-C867622C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43" y="1313782"/>
            <a:ext cx="3399538" cy="52136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65BC6F0-B8B2-4E97-B1B9-85CE9A845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92884" y="347718"/>
            <a:ext cx="7469435" cy="3029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25" name="Table Placeholder 24">
            <a:extLst>
              <a:ext uri="{FF2B5EF4-FFF2-40B4-BE49-F238E27FC236}">
                <a16:creationId xmlns:a16="http://schemas.microsoft.com/office/drawing/2014/main" id="{9454E005-8160-4FA7-8D4B-E911238E43A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392884" y="738855"/>
            <a:ext cx="7468548" cy="57492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4393482" y="6527432"/>
            <a:ext cx="7469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53A964-8420-4011-B79C-34E80F2E29F7}"/>
              </a:ext>
            </a:extLst>
          </p:cNvPr>
          <p:cNvSpPr txBox="1"/>
          <p:nvPr userDrawn="1"/>
        </p:nvSpPr>
        <p:spPr>
          <a:xfrm>
            <a:off x="151856" y="189950"/>
            <a:ext cx="1843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INSIGHT</a:t>
            </a:r>
            <a:endParaRPr lang="en-SG" sz="3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269970" y="933927"/>
            <a:ext cx="352446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E25832-A472-4E3A-AB0E-F9544D6A0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8817" y="352431"/>
            <a:ext cx="1672932" cy="281388"/>
          </a:xfrm>
          <a:solidFill>
            <a:srgbClr val="A6A6A6"/>
          </a:solidFill>
        </p:spPr>
        <p:txBody>
          <a:bodyPr anchor="ctr"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SG" dirty="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5C0DF32F-AE11-4584-B2C8-205868F332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598199"/>
            <a:ext cx="985382" cy="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5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4064400" cy="6857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93482" y="6598199"/>
            <a:ext cx="6592999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3722A2A-6C0C-441E-B2BC-C867622C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43" y="1313782"/>
            <a:ext cx="3399538" cy="52136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65BC6F0-B8B2-4E97-B1B9-85CE9A845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92884" y="347718"/>
            <a:ext cx="7469435" cy="3029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25" name="Table Placeholder 24">
            <a:extLst>
              <a:ext uri="{FF2B5EF4-FFF2-40B4-BE49-F238E27FC236}">
                <a16:creationId xmlns:a16="http://schemas.microsoft.com/office/drawing/2014/main" id="{9454E005-8160-4FA7-8D4B-E911238E43A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392884" y="1137248"/>
            <a:ext cx="7468548" cy="57492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4393482" y="6527432"/>
            <a:ext cx="74694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53A964-8420-4011-B79C-34E80F2E29F7}"/>
              </a:ext>
            </a:extLst>
          </p:cNvPr>
          <p:cNvSpPr txBox="1"/>
          <p:nvPr userDrawn="1"/>
        </p:nvSpPr>
        <p:spPr>
          <a:xfrm>
            <a:off x="151856" y="189950"/>
            <a:ext cx="1843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INSIGHT</a:t>
            </a:r>
            <a:endParaRPr lang="en-SG" sz="3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269970" y="933927"/>
            <a:ext cx="352446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E25832-A472-4E3A-AB0E-F9544D6A0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8817" y="352431"/>
            <a:ext cx="1672932" cy="281388"/>
          </a:xfrm>
          <a:solidFill>
            <a:srgbClr val="A6A6A6"/>
          </a:solidFill>
        </p:spPr>
        <p:txBody>
          <a:bodyPr anchor="ctr"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SG" dirty="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5C0DF32F-AE11-4584-B2C8-205868F332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598199"/>
            <a:ext cx="985382" cy="173663"/>
          </a:xfrm>
          <a:prstGeom prst="rect">
            <a:avLst/>
          </a:prstGeom>
        </p:spPr>
      </p:pic>
      <p:sp>
        <p:nvSpPr>
          <p:cNvPr id="3" name="Table Placeholder 5">
            <a:extLst>
              <a:ext uri="{FF2B5EF4-FFF2-40B4-BE49-F238E27FC236}">
                <a16:creationId xmlns:a16="http://schemas.microsoft.com/office/drawing/2014/main" id="{DBC9D81F-1627-4A4C-6704-795C2C810C71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392444" y="2574306"/>
            <a:ext cx="7468390" cy="3544839"/>
          </a:xfrm>
        </p:spPr>
        <p:txBody>
          <a:bodyPr/>
          <a:lstStyle/>
          <a:p>
            <a:endParaRPr lang="en-SG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F44F6E1B-4931-F046-A56B-20208838EDF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780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65189095-BF68-489C-A313-E7A8A248173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599" y="3925330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3787F51B-E50D-412B-800F-7580BC4B4043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337159" y="2450972"/>
            <a:ext cx="11523675" cy="481699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7DDC3FA-9319-48D6-BF6E-338247AF69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DE4ECB4-F64B-48E5-AF99-90FBDEE8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634909"/>
            <a:ext cx="11523676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3AFF074-088C-48AF-BECF-EFF7FB24BB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082" y="328138"/>
            <a:ext cx="8534502" cy="25260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2F1C3327-4B14-45A5-AB7A-4C7A7054A6B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A1C1BDC-21FB-4526-9F1C-5AC89FCE5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A9CB02-7088-4C26-9EBE-7ACA2729EB76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B3BD49E-5AC5-4EB5-87D2-F0A5269FE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4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_Content_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65189095-BF68-489C-A313-E7A8A248173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0984" y="3636006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3787F51B-E50D-412B-800F-7580BC4B4043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329082" y="1282638"/>
            <a:ext cx="11523675" cy="481699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7DDC3FA-9319-48D6-BF6E-338247AF69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DE4ECB4-F64B-48E5-AF99-90FBDEE8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634909"/>
            <a:ext cx="11523676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3AFF074-088C-48AF-BECF-EFF7FB24BB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082" y="328138"/>
            <a:ext cx="8534502" cy="25260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2F1C3327-4B14-45A5-AB7A-4C7A7054A6B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A1C1BDC-21FB-4526-9F1C-5AC89FCE5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A9CB02-7088-4C26-9EBE-7ACA2729EB76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B3BD49E-5AC5-4EB5-87D2-F0A5269FE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  <p:sp>
        <p:nvSpPr>
          <p:cNvPr id="2" name="Table Placeholder 4">
            <a:extLst>
              <a:ext uri="{FF2B5EF4-FFF2-40B4-BE49-F238E27FC236}">
                <a16:creationId xmlns:a16="http://schemas.microsoft.com/office/drawing/2014/main" id="{CBCCEF15-C77A-F602-4210-38495CD57DCA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310984" y="2177384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632D6140-F929-35FB-BBAD-B644950BCCA5}"/>
              </a:ext>
            </a:extLst>
          </p:cNvPr>
          <p:cNvSpPr>
            <a:spLocks noGrp="1"/>
          </p:cNvSpPr>
          <p:nvPr>
            <p:ph type="tbl" sz="quarter" idx="39"/>
          </p:nvPr>
        </p:nvSpPr>
        <p:spPr>
          <a:xfrm>
            <a:off x="329082" y="5007199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075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65189095-BF68-489C-A313-E7A8A248173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599" y="3325759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3787F51B-E50D-412B-800F-7580BC4B4043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337159" y="2450972"/>
            <a:ext cx="11523675" cy="481699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7DDC3FA-9319-48D6-BF6E-338247AF69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DE4ECB4-F64B-48E5-AF99-90FBDEE8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634909"/>
            <a:ext cx="11523676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3AFF074-088C-48AF-BECF-EFF7FB24BB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082" y="328138"/>
            <a:ext cx="8534502" cy="25260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2F1C3327-4B14-45A5-AB7A-4C7A7054A6B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A1C1BDC-21FB-4526-9F1C-5AC89FCE5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A9CB02-7088-4C26-9EBE-7ACA2729EB76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B3BD49E-5AC5-4EB5-87D2-F0A5269FE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  <p:sp>
        <p:nvSpPr>
          <p:cNvPr id="2" name="Table Placeholder 4">
            <a:extLst>
              <a:ext uri="{FF2B5EF4-FFF2-40B4-BE49-F238E27FC236}">
                <a16:creationId xmlns:a16="http://schemas.microsoft.com/office/drawing/2014/main" id="{4FB0FCD9-8B22-9E54-AA53-085A72B61BC8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337159" y="4918452"/>
            <a:ext cx="11464802" cy="1215892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310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_Driv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FA425434-1B36-4659-9E56-30DC760CEC5C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2855999" y="2436207"/>
            <a:ext cx="6480000" cy="3714072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7B8BE75-480E-46C3-B6F7-FF054C6B512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2A9F2C-CC34-4392-A614-757FA4130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21CB7-F0B7-4F95-BAF0-DAD3E13806FC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DFC32AE-8D7D-4621-9D73-4EBCADA1C8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267F7D9-07E3-40F3-9BC9-2ECBA028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634909"/>
            <a:ext cx="11523676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228F939-6BB9-40D9-8BF8-7882E9362B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082" y="328138"/>
            <a:ext cx="8534502" cy="25260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03C901DB-8634-4C2C-BB53-B7EB8FABC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9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ab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FA425434-1B36-4659-9E56-30DC760CEC5C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2850920" y="2481462"/>
            <a:ext cx="6480000" cy="2812275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7B8BE75-480E-46C3-B6F7-FF054C6B512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769033" y="0"/>
            <a:ext cx="2422967" cy="3048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endParaRPr lang="en-SG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2A9F2C-CC34-4392-A614-757FA4130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7135" y="6598199"/>
            <a:ext cx="74369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21CB7-F0B7-4F95-BAF0-DAD3E13806FC}"/>
              </a:ext>
            </a:extLst>
          </p:cNvPr>
          <p:cNvCxnSpPr>
            <a:cxnSpLocks/>
          </p:cNvCxnSpPr>
          <p:nvPr userDrawn="1"/>
        </p:nvCxnSpPr>
        <p:spPr>
          <a:xfrm>
            <a:off x="329082" y="652743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DFC32AE-8D7D-4621-9D73-4EBCADA1C8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33662" y="6598199"/>
            <a:ext cx="6924675" cy="1730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267F7D9-07E3-40F3-9BC9-2ECBA028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634909"/>
            <a:ext cx="11523676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228F939-6BB9-40D9-8BF8-7882E9362B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082" y="328138"/>
            <a:ext cx="8534502" cy="25260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03C901DB-8634-4C2C-BB53-B7EB8FABCB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2" y="6616861"/>
            <a:ext cx="985382" cy="173663"/>
          </a:xfrm>
          <a:prstGeom prst="rect">
            <a:avLst/>
          </a:prstGeom>
        </p:spPr>
      </p:pic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936F6AFA-D4CF-3D69-A93C-9D7C4E202937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2850920" y="1085783"/>
            <a:ext cx="6480000" cy="66210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946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15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2" r:id="rId2"/>
    <p:sldLayoutId id="2147483719" r:id="rId3"/>
    <p:sldLayoutId id="2147483814" r:id="rId4"/>
    <p:sldLayoutId id="2147483817" r:id="rId5"/>
    <p:sldLayoutId id="2147483785" r:id="rId6"/>
    <p:sldLayoutId id="2147483818" r:id="rId7"/>
    <p:sldLayoutId id="2147483815" r:id="rId8"/>
    <p:sldLayoutId id="2147483811" r:id="rId9"/>
    <p:sldLayoutId id="2147483816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37"/>
          </p:nvPr>
        </p:nvSpPr>
        <p:spPr>
          <a:solidFill>
            <a:srgbClr val="F2F2F2"/>
          </a:solidFill>
          <a:ln>
            <a:noFill/>
          </a:ln>
        </p:spPr>
        <p:txBody>
          <a:bodyPr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USA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Cosumers</a:t>
            </a:r>
            <a:r>
              <a:rPr lang="en-US" dirty="0"/>
              <a:t> n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algn="l">
              <a:defRPr sz="1000" b="1">
                <a:solidFill>
                  <a:srgbClr val="7F7F7F"/>
                </a:solidFill>
              </a:defRPr>
            </a:pPr>
            <a:r>
              <a:t>Profile Markers/Profile Marker - Gender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50920" y="2481462"/>
          <a:ext cx="6055200" cy="239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endParaRPr/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Consumers claiming to use Prunelax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Consumers claiming to use other brands (Natural + Synthetic)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41.0 %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CFC00"/>
                          </a:solidFill>
                          <a:latin typeface="Poppins (Headings)"/>
                        </a:defRPr>
                      </a:pPr>
                      <a:r>
                        <a:t>36.0 %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Poppins (Headings)"/>
                        </a:defRPr>
                      </a:pPr>
                      <a:r>
                        <a:t>59.0 %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7CFC00"/>
                          </a:solidFill>
                          <a:latin typeface="Poppins (Headings)"/>
                        </a:defRPr>
                      </a:pPr>
                      <a:r>
                        <a:t>28.0 %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50920" y="1085783"/>
          <a:ext cx="648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05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Poppins (Body)"/>
                        </a:defRPr>
                      </a:pPr>
                      <a:r>
                        <a:t>Profile Markers/Profile Marker - Gender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5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Poppins (Body)"/>
                        </a:defRPr>
                      </a:pPr>
                      <a:r>
                        <a:t>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raphene Visualisation">
  <a:themeElements>
    <a:clrScheme name="Beig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E6CD"/>
      </a:accent1>
      <a:accent2>
        <a:srgbClr val="7F7F7F"/>
      </a:accent2>
      <a:accent3>
        <a:srgbClr val="A5A5A5"/>
      </a:accent3>
      <a:accent4>
        <a:srgbClr val="FFCF9F"/>
      </a:accent4>
      <a:accent5>
        <a:srgbClr val="D8D8D8"/>
      </a:accent5>
      <a:accent6>
        <a:srgbClr val="F2F2F2"/>
      </a:accent6>
      <a:hlink>
        <a:srgbClr val="FFCC99"/>
      </a:hlink>
      <a:folHlink>
        <a:srgbClr val="FFCC99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FC68D3EF25E4CAA5668CE49CBF428" ma:contentTypeVersion="15" ma:contentTypeDescription="Create a new document." ma:contentTypeScope="" ma:versionID="a79b19a115fd57778b0f6813f4b9da36">
  <xsd:schema xmlns:xsd="http://www.w3.org/2001/XMLSchema" xmlns:xs="http://www.w3.org/2001/XMLSchema" xmlns:p="http://schemas.microsoft.com/office/2006/metadata/properties" xmlns:ns1="http://schemas.microsoft.com/sharepoint/v3" xmlns:ns2="e5e85e23-9be2-465a-8069-2c0369305d1d" xmlns:ns3="7f88af65-d9c1-41d3-b9f2-ebff45668681" targetNamespace="http://schemas.microsoft.com/office/2006/metadata/properties" ma:root="true" ma:fieldsID="a59439252a6238c06cda3ea8fc244ab0" ns1:_="" ns2:_="" ns3:_="">
    <xsd:import namespace="http://schemas.microsoft.com/sharepoint/v3"/>
    <xsd:import namespace="e5e85e23-9be2-465a-8069-2c0369305d1d"/>
    <xsd:import namespace="7f88af65-d9c1-41d3-b9f2-ebff456686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85e23-9be2-465a-8069-2c0369305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88af65-d9c1-41d3-b9f2-ebff4566868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A1749A-A2B9-46BF-8283-CAA548B607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256A93-EBA3-4E56-B6E7-0BA1F1199EF6}">
  <ds:schemaRefs>
    <ds:schemaRef ds:uri="http://purl.org/dc/elements/1.1/"/>
    <ds:schemaRef ds:uri="http://purl.org/dc/dcmitype/"/>
    <ds:schemaRef ds:uri="http://schemas.microsoft.com/office/2006/metadata/properties"/>
    <ds:schemaRef ds:uri="7f88af65-d9c1-41d3-b9f2-ebff4566868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5e85e23-9be2-465a-8069-2c0369305d1d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799BE23-826D-47AC-AB0E-6D68EE0F7A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5e85e23-9be2-465a-8069-2c0369305d1d"/>
    <ds:schemaRef ds:uri="7f88af65-d9c1-41d3-b9f2-ebff456686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31048</TotalTime>
  <Words>44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(Body)</vt:lpstr>
      <vt:lpstr>Calibri</vt:lpstr>
      <vt:lpstr>Poppins</vt:lpstr>
      <vt:lpstr>Poppins (Headings)</vt:lpstr>
      <vt:lpstr>Arial</vt:lpstr>
      <vt:lpstr>Graphene Visualisation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Lim</dc:creator>
  <cp:lastModifiedBy>Eugene Liew</cp:lastModifiedBy>
  <cp:revision>29</cp:revision>
  <dcterms:created xsi:type="dcterms:W3CDTF">2021-03-29T06:13:29Z</dcterms:created>
  <dcterms:modified xsi:type="dcterms:W3CDTF">2023-06-08T05:00:02Z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0x010100198FC68D3EF25E4CAA5668CE49CBF428</vt:lpwstr>
  </property>
</Properties>
</file>